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60000"/>
            <a:ext cx="12192119" cy="54000"/>
          </a:xfrm>
          <a:prstGeom prst="rect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" y="1980000"/>
            <a:ext cx="864000" cy="86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980000"/>
            <a:ext cx="864000" cy="8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0B3D91"/>
                </a:solidFill>
                <a:latin typeface="Yu Gothic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2015999"/>
            <a:ext cx="900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Yu Gothic"/>
              </a:rPr>
              <a:t>日美株式会社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2808000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DD8F0"/>
                </a:solidFill>
                <a:latin typeface="Yu Gothic"/>
              </a:rPr>
              <a:t>Nichibi Co., Ltd. 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960000"/>
            <a:ext cx="100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Yu Gothic"/>
              </a:rPr>
              <a:t>人と企業の未来をつなぐ。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Yu Gothic"/>
              </a:rPr>
              <a:t>名古屋発、東海エリアの人材パートナー。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6300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DD8F0"/>
                </a:solidFill>
                <a:latin typeface="Yu Gothic"/>
              </a:rPr>
              <a:t>https://nichibi-web.co.jp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620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1.  会社概要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196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2.  私たちのミッション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772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3.  事業内容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348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4.  取扱職種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924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5.  対応エリア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1620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6.  日美の強み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2196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7.  サポート体制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2772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8.  ご利用の流れ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3348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B1F2A"/>
                </a:solidFill>
                <a:latin typeface="Yu Gothic"/>
              </a:rPr>
              <a:t>9.  お問い合わせ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会社概要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Company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0000" y="1512000"/>
            <a:ext cx="2340000" cy="46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512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  社名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4000" y="1512000"/>
            <a:ext cx="792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日美株式会社 (Nichibi Co., Ltd.)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1980000"/>
            <a:ext cx="2340000" cy="46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980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  設立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4000" y="1980000"/>
            <a:ext cx="792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1984年5月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2448000"/>
            <a:ext cx="2340000" cy="46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2448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  代表者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4000" y="2448000"/>
            <a:ext cx="792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代表取締役  長谷川 裕一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2916000"/>
            <a:ext cx="2340000" cy="46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2916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  本社所在地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4000" y="2916000"/>
            <a:ext cx="792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愛知県名古屋市中区錦1丁目5番13号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" y="3384000"/>
            <a:ext cx="2340000" cy="46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3384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  資本金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4000" y="3384000"/>
            <a:ext cx="792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50,000,000 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" y="3852000"/>
            <a:ext cx="2340000" cy="46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3852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  従業員数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4000" y="3852000"/>
            <a:ext cx="792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25名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" y="4320000"/>
            <a:ext cx="2340000" cy="46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4320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  事業内容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4000" y="4320000"/>
            <a:ext cx="792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人材派遣 / アウトソーシング / 人材紹介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" y="4788000"/>
            <a:ext cx="2340000" cy="46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" y="4788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  Web サイト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4000" y="4788000"/>
            <a:ext cx="792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https://nichibi-web.co.jp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私たちのミッション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Our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620000"/>
            <a:ext cx="1044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Yu Gothic"/>
              </a:rPr>
              <a:t>人と企業の架け橋として、</a:t>
            </a:r>
          </a:p>
          <a:p>
            <a:pPr algn="l"/>
            <a:r>
              <a:rPr sz="2600" b="1">
                <a:solidFill>
                  <a:srgbClr val="0B3D91"/>
                </a:solidFill>
                <a:latin typeface="Yu Gothic"/>
              </a:rPr>
              <a:t>働く人の「ありたい姿」と企業の「成長」を共に実現する。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3420000"/>
            <a:ext cx="3491999" cy="234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000" y="3420000"/>
            <a:ext cx="3491999" cy="90000"/>
          </a:xfrm>
          <a:prstGeom prst="rect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000" y="3636000"/>
            <a:ext cx="3203999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  <a:latin typeface="Yu Gothic"/>
              </a:rPr>
              <a:t>一人ひとりに寄り添う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4000" y="4284000"/>
            <a:ext cx="3203999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F2A"/>
                </a:solidFill>
                <a:latin typeface="Yu Gothic"/>
              </a:rPr>
              <a:t>声を聴き、ご希望に沿う働き方をとことんサポート。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7999" y="3420000"/>
            <a:ext cx="3491999" cy="234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07999" y="3420000"/>
            <a:ext cx="3491999" cy="90000"/>
          </a:xfrm>
          <a:prstGeom prst="rect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1999" y="3636000"/>
            <a:ext cx="3203999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  <a:latin typeface="Yu Gothic"/>
              </a:rPr>
              <a:t>企業の成長を支える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1999" y="4284000"/>
            <a:ext cx="3203999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F2A"/>
                </a:solidFill>
                <a:latin typeface="Yu Gothic"/>
              </a:rPr>
              <a:t>ニーズにフレキシブルに応える人材ソリューション。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5998" y="3420000"/>
            <a:ext cx="3491999" cy="234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15998" y="3420000"/>
            <a:ext cx="3491999" cy="90000"/>
          </a:xfrm>
          <a:prstGeom prst="rect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9998" y="3636000"/>
            <a:ext cx="3203999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  <a:latin typeface="Yu Gothic"/>
              </a:rPr>
              <a:t>地域に根差す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9998" y="4284000"/>
            <a:ext cx="3203999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F2A"/>
                </a:solidFill>
                <a:latin typeface="Yu Gothic"/>
              </a:rPr>
              <a:t>愛知・岐阜・三重・静岡で地域密着のネットワーク。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事業内容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Our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620000"/>
            <a:ext cx="3491999" cy="396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620000"/>
            <a:ext cx="3491999" cy="720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620000"/>
            <a:ext cx="349199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CDD8F0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1836000"/>
            <a:ext cx="3491999" cy="503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人材派遣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56000"/>
            <a:ext cx="3059999" cy="28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正社員の代替要員・欠員補充、繁忙期対応など。</a:t>
            </a:r>
          </a:p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貴社のニーズに応じて即戦力人材をご紹介します。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7999" y="1620000"/>
            <a:ext cx="3491999" cy="396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07999" y="1620000"/>
            <a:ext cx="3491999" cy="720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7999" y="1620000"/>
            <a:ext cx="349199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CDD8F0"/>
                </a:solidFill>
                <a:latin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7999" y="1836000"/>
            <a:ext cx="3491999" cy="503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アウトソーシング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3999" y="2556000"/>
            <a:ext cx="3059999" cy="28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業務プロセスごとの受託で、コア業務への</a:t>
            </a:r>
          </a:p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集中を支援。生産性向上と固定費の最適化に貢献。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5998" y="1620000"/>
            <a:ext cx="3491999" cy="396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5998" y="1620000"/>
            <a:ext cx="3491999" cy="720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5998" y="1620000"/>
            <a:ext cx="349199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CDD8F0"/>
                </a:solidFill>
                <a:latin typeface="Yu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998" y="1836000"/>
            <a:ext cx="3491999" cy="503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人材紹介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998" y="2556000"/>
            <a:ext cx="3059999" cy="28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登録者2万人超のネットワークから、</a:t>
            </a:r>
          </a:p>
          <a:p>
            <a:pPr algn="l"/>
            <a:r>
              <a:rPr sz="1400" b="0">
                <a:solidFill>
                  <a:srgbClr val="1B1F2A"/>
                </a:solidFill>
                <a:latin typeface="Yu Gothic"/>
              </a:rPr>
              <a:t>貴社にマッチする人材をスピーディーにご提案。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取扱職種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Job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584000"/>
            <a:ext cx="5328000" cy="2304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584000"/>
            <a:ext cx="90000" cy="2304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6000" y="1728000"/>
            <a:ext cx="49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事務系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160000"/>
            <a:ext cx="4968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一般事務  /  営業事務  /  経理・財務  /  人事・総務  /  貿易事務  /  金融事務（銀行/証券/損保/生保）  /  受発注事務  /  受付・案内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4000" y="1584000"/>
            <a:ext cx="5328000" cy="2304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4000" y="1584000"/>
            <a:ext cx="90000" cy="2304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0000" y="1728000"/>
            <a:ext cx="49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専門・技術系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0000" y="2160000"/>
            <a:ext cx="4968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CADオペレーター  /  インテリアコーディネーター  /  秘書  /  テレホンオペレーター  /  保険関連業務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" y="4068000"/>
            <a:ext cx="5328000" cy="2304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000" y="4068000"/>
            <a:ext cx="90000" cy="2304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6000" y="4212000"/>
            <a:ext cx="49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医療・福祉系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000" y="4644000"/>
            <a:ext cx="4968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医療事務  /  医師事務作業補助  /  看護補助  /  介護  /  各種検査技師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4000" y="4068000"/>
            <a:ext cx="5328000" cy="2304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4000" y="4068000"/>
            <a:ext cx="90000" cy="2304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0000" y="4212000"/>
            <a:ext cx="49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IT・エンジニア系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0000" y="4644000"/>
            <a:ext cx="4968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システムエンジニア  /  プログラマー  /  ネットワークエンジニア  /  ヘルプデスク  /  ユーザー / プロバイダーサポート  /  アドミニストレーター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対応エリア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Service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4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B1F2A"/>
                </a:solidFill>
                <a:latin typeface="Yu Gothic"/>
              </a:rPr>
              <a:t>東海4県を中心に、地域に根差したサポートを提供します。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2059" y="2448000"/>
            <a:ext cx="2520000" cy="270000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2059" y="2988000"/>
            <a:ext cx="2520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愛知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2059" y="4248000"/>
            <a:ext cx="252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Yu Gothic"/>
              </a:rPr>
              <a:t>本社・名古屋拠点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8059" y="2448000"/>
            <a:ext cx="2520000" cy="27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8059" y="2988000"/>
            <a:ext cx="2520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0B3D91"/>
                </a:solidFill>
                <a:latin typeface="Yu Gothic"/>
              </a:rPr>
              <a:t>岐阜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8059" y="4248000"/>
            <a:ext cx="252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Yu Gothic"/>
              </a:rPr>
              <a:t>東海エリア対応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059" y="2448000"/>
            <a:ext cx="2520000" cy="27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4059" y="2988000"/>
            <a:ext cx="2520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0B3D91"/>
                </a:solidFill>
                <a:latin typeface="Yu Gothic"/>
              </a:rPr>
              <a:t>三重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4059" y="4248000"/>
            <a:ext cx="252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Yu Gothic"/>
              </a:rPr>
              <a:t>東海エリア対応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0059" y="2448000"/>
            <a:ext cx="2520000" cy="27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0059" y="2988000"/>
            <a:ext cx="2520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0B3D91"/>
                </a:solidFill>
                <a:latin typeface="Yu Gothic"/>
              </a:rPr>
              <a:t>静岡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0059" y="4248000"/>
            <a:ext cx="252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Yu Gothic"/>
              </a:rPr>
              <a:t>東海エリア対応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日美の強み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Our Strengths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548000"/>
            <a:ext cx="3491999" cy="234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6000" y="1692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1C4F"/>
                </a:solidFill>
                <a:latin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268000"/>
            <a:ext cx="3059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40年以上の実績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808000"/>
            <a:ext cx="3059999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1984年創業。</a:t>
            </a:r>
          </a:p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東海エリアでの長年の信頼と実績。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7999" y="1548000"/>
            <a:ext cx="3491999" cy="234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3999" y="1692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1C4F"/>
                </a:solidFill>
                <a:latin typeface="Yu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3999" y="2268000"/>
            <a:ext cx="3059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登録者2万人超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3999" y="2808000"/>
            <a:ext cx="3059999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創業以来の登録者は2万人以上。</a:t>
            </a:r>
          </a:p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有資格者・経験者も多数。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5998" y="1548000"/>
            <a:ext cx="3491999" cy="234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998" y="1692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1C4F"/>
                </a:solidFill>
                <a:latin typeface="Yu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998" y="2268000"/>
            <a:ext cx="3059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幅広い職種対応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998" y="2808000"/>
            <a:ext cx="3059999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事務・専門職・医療・ITまで</a:t>
            </a:r>
          </a:p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多彩な職種をカバー。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" y="4068000"/>
            <a:ext cx="3491999" cy="234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6000" y="4212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1C4F"/>
                </a:solidFill>
                <a:latin typeface="Yu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000" y="4788000"/>
            <a:ext cx="3059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地域密着ネットワーク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000" y="5328000"/>
            <a:ext cx="3059999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愛知・岐阜・三重・静岡で</a:t>
            </a:r>
          </a:p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きめ細かなマッチングを実現。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07999" y="4068000"/>
            <a:ext cx="3491999" cy="234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3999" y="4212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1C4F"/>
                </a:solidFill>
                <a:latin typeface="Yu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3999" y="4788000"/>
            <a:ext cx="3059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手厚いサポート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3999" y="5328000"/>
            <a:ext cx="3059999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派遣先への定期訪問・</a:t>
            </a:r>
          </a:p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ストレスチェックなど就業中も安心。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5998" y="4068000"/>
            <a:ext cx="3491999" cy="23400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998" y="4212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1C4F"/>
                </a:solidFill>
                <a:latin typeface="Yu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998" y="4788000"/>
            <a:ext cx="3059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Yu Gothic"/>
              </a:rPr>
              <a:t>柔軟な提案力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998" y="5328000"/>
            <a:ext cx="3059999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派遣・紹介・アウトソーシングを</a:t>
            </a:r>
          </a:p>
          <a:p>
            <a:pPr algn="l"/>
            <a:r>
              <a:rPr sz="1200" b="0">
                <a:solidFill>
                  <a:srgbClr val="1B1F2A"/>
                </a:solidFill>
                <a:latin typeface="Yu Gothic"/>
              </a:rPr>
              <a:t>組み合わせ最適解をご提案。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サポート体制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Our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4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B1F2A"/>
                </a:solidFill>
                <a:latin typeface="Yu Gothic"/>
              </a:rPr>
              <a:t>登録から就業後まで、専任スタッフが伴走します。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900000" y="2340000"/>
            <a:ext cx="468000" cy="468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000" y="23400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登録前カウンセリング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000" y="2610000"/>
            <a:ext cx="475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A"/>
                </a:solidFill>
                <a:latin typeface="Yu Gothic"/>
              </a:rPr>
              <a:t>希望条件・キャリアプランを丁寧にヒアリング。</a:t>
            </a:r>
          </a:p>
        </p:txBody>
      </p:sp>
      <p:sp>
        <p:nvSpPr>
          <p:cNvPr id="11" name="Oval 10"/>
          <p:cNvSpPr/>
          <p:nvPr/>
        </p:nvSpPr>
        <p:spPr>
          <a:xfrm>
            <a:off x="6444000" y="2340000"/>
            <a:ext cx="468000" cy="468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4000" y="2340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0000" y="23400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マッチングのご提案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0000" y="2610000"/>
            <a:ext cx="475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A"/>
                </a:solidFill>
                <a:latin typeface="Yu Gothic"/>
              </a:rPr>
              <a:t>登録者のスキルと企業ニーズを精緻にマッチング。</a:t>
            </a:r>
          </a:p>
        </p:txBody>
      </p:sp>
      <p:sp>
        <p:nvSpPr>
          <p:cNvPr id="15" name="Oval 14"/>
          <p:cNvSpPr/>
          <p:nvPr/>
        </p:nvSpPr>
        <p:spPr>
          <a:xfrm>
            <a:off x="900000" y="2952000"/>
            <a:ext cx="468000" cy="468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2952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000" y="29520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就業前オリエンテーション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000" y="3222000"/>
            <a:ext cx="475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A"/>
                </a:solidFill>
                <a:latin typeface="Yu Gothic"/>
              </a:rPr>
              <a:t>業務内容・職場環境を事前にご説明し、不安を解消。</a:t>
            </a:r>
          </a:p>
        </p:txBody>
      </p:sp>
      <p:sp>
        <p:nvSpPr>
          <p:cNvPr id="19" name="Oval 18"/>
          <p:cNvSpPr/>
          <p:nvPr/>
        </p:nvSpPr>
        <p:spPr>
          <a:xfrm>
            <a:off x="6444000" y="2952000"/>
            <a:ext cx="468000" cy="468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4000" y="2952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0000" y="29520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派遣先への定期訪問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0000" y="3222000"/>
            <a:ext cx="475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A"/>
                </a:solidFill>
                <a:latin typeface="Yu Gothic"/>
              </a:rPr>
              <a:t>就業状況を定期確認し、お困りごとに迅速に対応。</a:t>
            </a:r>
          </a:p>
        </p:txBody>
      </p:sp>
      <p:sp>
        <p:nvSpPr>
          <p:cNvPr id="23" name="Oval 22"/>
          <p:cNvSpPr/>
          <p:nvPr/>
        </p:nvSpPr>
        <p:spPr>
          <a:xfrm>
            <a:off x="900000" y="3564000"/>
            <a:ext cx="468000" cy="468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000" y="3564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6000" y="35640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ストレスチェック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6000" y="3834000"/>
            <a:ext cx="475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A"/>
                </a:solidFill>
                <a:latin typeface="Yu Gothic"/>
              </a:rPr>
              <a:t>心身の健康を継続フォロー。長く安心して働ける環境を。</a:t>
            </a:r>
          </a:p>
        </p:txBody>
      </p:sp>
      <p:sp>
        <p:nvSpPr>
          <p:cNvPr id="27" name="Oval 26"/>
          <p:cNvSpPr/>
          <p:nvPr/>
        </p:nvSpPr>
        <p:spPr>
          <a:xfrm>
            <a:off x="6444000" y="3564000"/>
            <a:ext cx="468000" cy="468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4000" y="3564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0000" y="35640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Yu Gothic"/>
              </a:rPr>
              <a:t>キャリア相談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0000" y="3834000"/>
            <a:ext cx="475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A"/>
                </a:solidFill>
                <a:latin typeface="Yu Gothic"/>
              </a:rPr>
              <a:t>次のステップ・スキルアップのご相談にも対応。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3D91"/>
                </a:solidFill>
                <a:latin typeface="Yu Gothic"/>
              </a:rPr>
              <a:t>ご利用の流れ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11160000" cy="18000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2059" y="2340000"/>
            <a:ext cx="2052000" cy="216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2059" y="2340000"/>
            <a:ext cx="2052000" cy="432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059" y="2340000"/>
            <a:ext cx="205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59" y="2880000"/>
            <a:ext cx="183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Yu Gothic"/>
              </a:rPr>
              <a:t>お問い合わせ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59" y="3420000"/>
            <a:ext cx="1836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F2A"/>
                </a:solidFill>
                <a:latin typeface="Yu Gothic"/>
              </a:rPr>
              <a:t>Webまたはお電話でご相談ください。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01259" y="3312000"/>
            <a:ext cx="144000" cy="216000"/>
          </a:xfrm>
          <a:prstGeom prst="rightArrow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6059" y="2340000"/>
            <a:ext cx="2052000" cy="216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56059" y="2340000"/>
            <a:ext cx="2052000" cy="432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6059" y="2340000"/>
            <a:ext cx="205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4059" y="2880000"/>
            <a:ext cx="183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Yu Gothic"/>
              </a:rPr>
              <a:t>ヒアリング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059" y="3420000"/>
            <a:ext cx="1836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F2A"/>
                </a:solidFill>
                <a:latin typeface="Yu Gothic"/>
              </a:rPr>
              <a:t>ご要望や条件を詳しくお伺いします。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15259" y="3312000"/>
            <a:ext cx="144000" cy="216000"/>
          </a:xfrm>
          <a:prstGeom prst="rightArrow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0059" y="2340000"/>
            <a:ext cx="2052000" cy="216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0059" y="2340000"/>
            <a:ext cx="2052000" cy="432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0059" y="2340000"/>
            <a:ext cx="205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8059" y="2880000"/>
            <a:ext cx="183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Yu Gothic"/>
              </a:rPr>
              <a:t>ご提案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8059" y="3420000"/>
            <a:ext cx="1836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F2A"/>
                </a:solidFill>
                <a:latin typeface="Yu Gothic"/>
              </a:rPr>
              <a:t>最適な人材・プランをご提案します。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29259" y="3312000"/>
            <a:ext cx="144000" cy="216000"/>
          </a:xfrm>
          <a:prstGeom prst="rightArrow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84059" y="2340000"/>
            <a:ext cx="2052000" cy="216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84059" y="2340000"/>
            <a:ext cx="2052000" cy="432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4059" y="2340000"/>
            <a:ext cx="205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2059" y="2880000"/>
            <a:ext cx="183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Yu Gothic"/>
              </a:rPr>
              <a:t>就業開始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2059" y="3420000"/>
            <a:ext cx="1836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F2A"/>
                </a:solidFill>
                <a:latin typeface="Yu Gothic"/>
              </a:rPr>
              <a:t>オリエンテーション後、業務スタート。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43259" y="3312000"/>
            <a:ext cx="144000" cy="216000"/>
          </a:xfrm>
          <a:prstGeom prst="rightArrow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98059" y="2340000"/>
            <a:ext cx="2052000" cy="216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98059" y="2340000"/>
            <a:ext cx="2052000" cy="432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98059" y="2340000"/>
            <a:ext cx="205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6059" y="2880000"/>
            <a:ext cx="183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Yu Gothic"/>
              </a:rPr>
              <a:t>アフターフォロー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6059" y="3420000"/>
            <a:ext cx="1836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F2A"/>
                </a:solidFill>
                <a:latin typeface="Yu Gothic"/>
              </a:rPr>
              <a:t>定期訪問・面談で継続的にサポート。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51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Yu Gothic"/>
              </a:rPr>
              <a:t>日美株式会社  Company 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00000" y="651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Yu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12192119" cy="36000"/>
          </a:xfrm>
          <a:prstGeom prst="rect">
            <a:avLst/>
          </a:prstGeom>
          <a:solidFill>
            <a:srgbClr val="E8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03999"/>
            <a:ext cx="100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Yu Gothic"/>
              </a:rPr>
              <a:t>お問い合わせ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080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DD8F0"/>
                </a:solidFill>
                <a:latin typeface="Yu Gothic"/>
              </a:rPr>
              <a:t>Contact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160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DD8F0"/>
                </a:solidFill>
                <a:latin typeface="Yu Gothic"/>
              </a:rPr>
              <a:t>会社名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0" y="2160000"/>
            <a:ext cx="79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Gothic"/>
              </a:rPr>
              <a:t>日美株式会社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663999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DD8F0"/>
                </a:solidFill>
                <a:latin typeface="Yu Gothic"/>
              </a:rPr>
              <a:t>本社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0" y="2663999"/>
            <a:ext cx="79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Gothic"/>
              </a:rPr>
              <a:t>愛知県名古屋市中区錦1丁目5番13号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67998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DD8F0"/>
                </a:solidFill>
                <a:latin typeface="Yu Gothic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0000" y="3167998"/>
            <a:ext cx="79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Gothic"/>
              </a:rPr>
              <a:t>https://nichibi-web.co.jp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671997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DD8F0"/>
                </a:solidFill>
                <a:latin typeface="Yu Gothic"/>
              </a:rPr>
              <a:t>お問い合わせ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0000" y="3671997"/>
            <a:ext cx="79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Gothic"/>
              </a:rPr>
              <a:t>Webサイトのお問い合わせフォームよりご連絡ください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4175996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DD8F0"/>
                </a:solidFill>
                <a:latin typeface="Yu Gothic"/>
              </a:rPr>
              <a:t>対応エリア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4175996"/>
            <a:ext cx="79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Gothic"/>
              </a:rPr>
              <a:t>愛知 / 岐阜 / 三重 / 静岡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5940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DD8F0"/>
                </a:solidFill>
                <a:latin typeface="Yu Gothic"/>
              </a:rPr>
              <a:t>人と企業の未来をつなぐパートナーとして、お気軽にご相談ください。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6480000"/>
            <a:ext cx="100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DD8F0"/>
                </a:solidFill>
                <a:latin typeface="Yu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